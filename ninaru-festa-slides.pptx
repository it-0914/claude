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9BFC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採用選考プレゼンテーション  |  ninaruフェスタ 事業成長仮説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「深さ」を売り切ってから、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「面」を拡げる。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40690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D9D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ninaruフェスタの良い点・課題点 / 成長戦略 / 全国4都市展開の論点整理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2926080" cy="0"/>
          </a:xfrm>
          <a:prstGeom prst="line">
            <a:avLst/>
          </a:prstGeom>
          <a:noFill/>
          <a:ln w="19050">
            <a:solidFill>
              <a:srgbClr val="A267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349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2026年7月　石渡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172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A8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本資料の数値は「ninaruフェスタ開催レポート2026（二子玉川）」に基づく。未公開情報に関わる箇所は【仮説】として明示し、反証可能な形で記載した。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結論：フェスタは独立イベント事業ではなく「メディアの最上位商品」。深さを収益化し、面の拡大はその後に置く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72768"/>
            <a:ext cx="10543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CD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主仮説　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ninaruフェスタの価値は単体黒字ではなく「クライアント単価と継続率の引き上げ」。ゆえに成長の順序は、①深さの単価化 → ②アプリ連携による商品化 → ③面の拡大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670048"/>
            <a:ext cx="3514344" cy="3246120"/>
          </a:xfrm>
          <a:prstGeom prst="roundRect">
            <a:avLst>
              <a:gd name="adj" fmla="val 1690"/>
            </a:avLst>
          </a:prstGeom>
          <a:solidFill>
            <a:srgbClr val="FBF7F7"/>
          </a:solidFill>
          <a:ln w="9525">
            <a:solidFill>
              <a:srgbClr val="E3D8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52928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空｜事実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3145536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「深さ」は実証済み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611880"/>
            <a:ext cx="30571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妊娠中47.1%・夫婦同伴84.1%という他イベントにない来場構成で、出展16社の満足度100%・再出展意向87.5%。高関与商材（生協・保険）は軒並み目標超過。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7304" y="2670048"/>
            <a:ext cx="3514344" cy="3246120"/>
          </a:xfrm>
          <a:prstGeom prst="roundRect">
            <a:avLst>
              <a:gd name="adj" fmla="val 1690"/>
            </a:avLst>
          </a:prstGeom>
          <a:solidFill>
            <a:srgbClr val="FBF7F7"/>
          </a:solidFill>
          <a:ln w="9525">
            <a:solidFill>
              <a:srgbClr val="E3D8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5904" y="2852928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雨｜解釈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65904" y="3145536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制約は規模と単発性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65904" y="3611880"/>
            <a:ext cx="30571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1,640世帯・16社という器の上限、成果計測が当日の件数で途切れる構造【仮説】、来場の96.3%が首都圏という集客の偏り。強みと制約は同じ構造の表裏。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5968" y="2670048"/>
            <a:ext cx="3514344" cy="3246120"/>
          </a:xfrm>
          <a:prstGeom prst="roundRect">
            <a:avLst>
              <a:gd name="adj" fmla="val 1690"/>
            </a:avLst>
          </a:prstGeom>
          <a:solidFill>
            <a:srgbClr val="FBF7F7"/>
          </a:solidFill>
          <a:ln w="9525">
            <a:solidFill>
              <a:srgbClr val="E3D8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4568" y="2852928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傘｜打ち手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54568" y="3145536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深さ→商品化→面の順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54568" y="3611880"/>
            <a:ext cx="30571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短期：セミナー充足率99%を根拠に単価と稼働率を修正。中期：アプリ連携で「妊娠期ファネル」を年間商品化。展開：集客再現性を1都市で検証してから全国へ。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本日の議論　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この位置付け仮説（＝評価軸の置き方）の当否こそ、最初に皆さまと検証したい論点。以降の全ページはこの前提に依存する。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ninaruフェスタ開催レポート2026（二子玉川、株式会社エバーセンス）。【仮説】表記は公開情報からの推定であり、当日の議論での検証を前提とする。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01｜前提：事業の位置付け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「良い点」も「成長」も、位置付けの定義で意味が変わる — 私はB（メディアの最上位商品）を主仮説に置く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1907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627632"/>
            <a:ext cx="1049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フェスタは何のための装置か — 4つの位置付け候補と、それぞれが導くKPI・展開判断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1672" cy="914400"/>
        </p:xfrm>
        <a:graphic>
          <a:graphicData uri="http://schemas.openxmlformats.org/drawingml/2006/table">
            <a:tbl>
              <a:tblPr/>
              <a:tblGrid>
                <a:gridCol w="4434840"/>
                <a:gridCol w="3017520"/>
                <a:gridCol w="2834640"/>
                <a:gridCol w="8046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位置付け候補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フェスタのKPI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4都市展開の意味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評価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　独立イベント事業（展示会ビジネス）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開催あたり利益・開催数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本丸。面の拡大が正義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－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D2E4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　メディア（アプリ）の最上位広告商品 — 「検討深度」を売る商品ラインの頂点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クライアント単価・継続率、アプリ広告とのクロスセル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慎重。都市数より首都圏深耕と商品磨き込みが先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D2E4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主仮説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　ユーザーエンゲージメント装置（アプリ→リアルでロイヤルティと口コミ）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来場者満足・アプリ継続率への寄与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ユーザー分布に従い展開。採算基準は緩め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267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従仮説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　データ獲得装置（妊娠期家庭の行動・態度データ）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取得データの質・量、CRM商品への転換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データの地域代表性が目的化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－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6235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Bを主仮説に置く根拠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バーセンスの本体収益はninaruアプリのメディア収益（広告・タイアップ）と推定【仮説】。ならばフェスタは「バナーよりタイアップより深い」商品ラインの頂点であり、真のKPIは単体黒字ではなくクライアントの年間単価と継続率になる。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ninaruフェスタ開催レポート2026（二子玉川、株式会社エバーセンス）。【仮説】表記は公開情報からの推定であり、当日の議論での検証を前提とする。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02｜現状把握（空：ファクト）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二子玉川は「小さいが、極めて濃い」— 売り物は規模ではなく、来場者の“時期”と“同伴構成”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4344" cy="1481328"/>
          </a:xfrm>
          <a:prstGeom prst="roundRect">
            <a:avLst>
              <a:gd name="adj" fmla="val 3704"/>
            </a:avLst>
          </a:prstGeom>
          <a:solidFill>
            <a:srgbClr val="FBF7F7"/>
          </a:solidFill>
          <a:ln w="9525">
            <a:solidFill>
              <a:srgbClr val="E3D8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3057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1,640</a:t>
            </a:r>
            <a:pPr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世帯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359152"/>
            <a:ext cx="3057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来場世帯数（2日間・440㎡）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総来場者 4,281名以上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37304" y="1645920"/>
            <a:ext cx="3514344" cy="1481328"/>
          </a:xfrm>
          <a:prstGeom prst="roundRect">
            <a:avLst>
              <a:gd name="adj" fmla="val 3704"/>
            </a:avLst>
          </a:prstGeom>
          <a:solidFill>
            <a:srgbClr val="FBF7F7"/>
          </a:solidFill>
          <a:ln w="9525">
            <a:solidFill>
              <a:srgbClr val="E3D8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5904" y="1755648"/>
            <a:ext cx="3057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47.1</a:t>
            </a:r>
            <a:pPr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65904" y="2359152"/>
            <a:ext cx="3057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妊娠中の来場世帯比率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産後0–11ヶ月まで含め 79.7%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25968" y="1645920"/>
            <a:ext cx="3514344" cy="1481328"/>
          </a:xfrm>
          <a:prstGeom prst="roundRect">
            <a:avLst>
              <a:gd name="adj" fmla="val 3704"/>
            </a:avLst>
          </a:prstGeom>
          <a:solidFill>
            <a:srgbClr val="FBF7F7"/>
          </a:solidFill>
          <a:ln w="9525">
            <a:solidFill>
              <a:srgbClr val="E3D8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54568" y="1755648"/>
            <a:ext cx="3057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84.1</a:t>
            </a:r>
            <a:pPr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354568" y="2359152"/>
            <a:ext cx="3057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夫婦同伴での来場率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＝意思決定が同席する場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3514344" cy="1481328"/>
          </a:xfrm>
          <a:prstGeom prst="roundRect">
            <a:avLst>
              <a:gd name="adj" fmla="val 3704"/>
            </a:avLst>
          </a:prstGeom>
          <a:solidFill>
            <a:srgbClr val="FBF7F7"/>
          </a:solidFill>
          <a:ln w="9525">
            <a:solidFill>
              <a:srgbClr val="E3D8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493008"/>
            <a:ext cx="3057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pPr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77240" y="4096512"/>
            <a:ext cx="3057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出展社満足度（16/16社）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再出展意向 87.5%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37304" y="3383280"/>
            <a:ext cx="3514344" cy="1481328"/>
          </a:xfrm>
          <a:prstGeom prst="roundRect">
            <a:avLst>
              <a:gd name="adj" fmla="val 3704"/>
            </a:avLst>
          </a:prstGeom>
          <a:solidFill>
            <a:srgbClr val="FBF7F7"/>
          </a:solidFill>
          <a:ln w="9525">
            <a:solidFill>
              <a:srgbClr val="E3D8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65904" y="3493008"/>
            <a:ext cx="3057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99</a:t>
            </a:r>
            <a:pPr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565904" y="4096512"/>
            <a:ext cx="3057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セミナー予約充足率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（179/180枠・参加213世帯）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25968" y="3383280"/>
            <a:ext cx="3514344" cy="1481328"/>
          </a:xfrm>
          <a:prstGeom prst="roundRect">
            <a:avLst>
              <a:gd name="adj" fmla="val 3704"/>
            </a:avLst>
          </a:prstGeom>
          <a:solidFill>
            <a:srgbClr val="FBF7F7"/>
          </a:solidFill>
          <a:ln w="9525">
            <a:solidFill>
              <a:srgbClr val="E3D8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4568" y="3493008"/>
            <a:ext cx="3057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96.3</a:t>
            </a:r>
            <a:pPr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354568" y="4096512"/>
            <a:ext cx="3057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東京・神奈川の来場比率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（東京61.3%＋神奈川35.0%）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21208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6D2E46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21208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7CD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 What?　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高関与商材ほど目標を大幅超過 — 生協: 新規89件（目標60）／保険: 個別相談40件（目標20）／アプリDL: 328件（目標150）。数字は「規模ではなく質を売るイベント」であることを示している。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ninaruフェスタ開催レポート2026（二子玉川、株式会社エバーセンス）。【仮説】表記は公開情報からの推定であり、当日の議論での検証を前提とする。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03｜良い点（雨：解釈）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強みの核は「妊娠期に会える」×「その場で夫婦が決められる」— 模倣困難で、かつ収益に直結する2点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700784"/>
            <a:ext cx="475488" cy="47548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267" y="1824411"/>
            <a:ext cx="228234" cy="2282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459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時期の希少性 — 妊娠期に会える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34440" y="1975104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妊婦47.1%は他のママイベントにない構成（出展社の声：「妊婦が多いイベントは他にない」）。保険・住居・生協・育児用品の検討が一斉に始まる、LTV起点として最も価値の高いタイミングを押さえている。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2779776"/>
            <a:ext cx="475488" cy="47548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67" y="2903403"/>
            <a:ext cx="228234" cy="22823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72491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意思決定が完結する場 — 夫婦同伴84.1%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234440" y="3054096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「配偶者に相談してから」で失注する高関与商材の構造課題を、同伴来場が解消。実際に生協・保険・不動産が目標超過。“接触の量”ではなく“商談の質”で差別化できている。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3858768"/>
            <a:ext cx="475488" cy="47548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67" y="398239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80390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集客を自前チャネルで制御【仮説】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234440" y="413308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インフルエンサー・強いサンプリングに依存せずninaruアプリで集客 → 集客コストを抑えつつ、来場者の質（真面目な検討層）を設計できる。競合が広告費で真似できない参入障壁。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4937760"/>
            <a:ext cx="475488" cy="47548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67" y="5061387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88289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リピートの土台 — 継続収益の芽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234440" y="52120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満足度100%・再出展意向87.5%・ターゲット合致93.7%。出展営業のコストが回を追うごとに逓減し、年間契約化（後述）の前提条件がすでに揃っている。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8549640" y="1645920"/>
            <a:ext cx="3090672" cy="4160520"/>
          </a:xfrm>
          <a:prstGeom prst="roundRect">
            <a:avLst>
              <a:gd name="adj" fmla="val 1775"/>
            </a:avLst>
          </a:prstGeom>
          <a:solidFill>
            <a:srgbClr val="F6EFF0"/>
          </a:solidFill>
          <a:ln w="9525">
            <a:solidFill>
              <a:srgbClr val="E3D8DA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8778240" y="182880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「良い」の判定基準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778240" y="2212848"/>
            <a:ext cx="26334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強みは感想ではなく、3つの問いを通過したものだけを数えた。</a:t>
            </a:r>
            <a:endParaRPr lang="en-US" sz="10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誰にとって良いか</a:t>
            </a:r>
            <a:endParaRPr lang="en-US" sz="10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来場者・出展社・自社の三者すべてに効くか</a:t>
            </a:r>
            <a:endParaRPr lang="en-US" sz="10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何と比べて良いか</a:t>
            </a:r>
            <a:endParaRPr lang="en-US" sz="10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競合イベント比・デジタル広告のCPA比で優位か</a:t>
            </a:r>
            <a:endParaRPr lang="en-US" sz="10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持続するか</a:t>
            </a:r>
            <a:endParaRPr lang="en-US" sz="10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一過性の成果でなく、自社資産（アプリ）に根ざすか</a:t>
            </a:r>
            <a:endParaRPr lang="en-US" sz="10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「好立地」「入場無料」等は模倣可能なため強みに数えない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ninaruフェスタ開催レポート2026（二子玉川、株式会社エバーセンス）。【仮説】表記は公開情報からの推定であり、当日の議論での検証を前提とする。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04｜課題点（雨：解釈）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課題は個別の不備ではなく、「濃さ」と引き換えに抱えた構造制約 — 4つが連鎖している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85816" cy="2084832"/>
          </a:xfrm>
          <a:prstGeom prst="roundRect">
            <a:avLst>
              <a:gd name="adj" fmla="val 2632"/>
            </a:avLst>
          </a:prstGeom>
          <a:solidFill>
            <a:srgbClr val="FBF7F7"/>
          </a:solidFill>
          <a:ln w="9525">
            <a:solidFill>
              <a:srgbClr val="E3D8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28800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170" y="1938162"/>
            <a:ext cx="201900" cy="201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865376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1開催あたりの収益上限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359152"/>
            <a:ext cx="4928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440㎡・16社・1,640世帯という器では、会場費・施工費・人件費控除後の利益は限定的【仮説】。「濃さ」を守るほど規模を追えないトレードオフが構造的に存在。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" y="3346704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 What? 規模でなく単価で稼ぐ設計が必須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54496" y="1645920"/>
            <a:ext cx="5385816" cy="2084832"/>
          </a:xfrm>
          <a:prstGeom prst="roundRect">
            <a:avLst>
              <a:gd name="adj" fmla="val 2632"/>
            </a:avLst>
          </a:prstGeom>
          <a:solidFill>
            <a:srgbClr val="FBF7F7"/>
          </a:solidFill>
          <a:ln w="9525">
            <a:solidFill>
              <a:srgbClr val="E3D8D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55664" y="1828800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026" y="1938162"/>
            <a:ext cx="201900" cy="201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04304" y="1865376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成果が当日で途切れる【仮説】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83096" y="2359152"/>
            <a:ext cx="4928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レポート上の成果は資料請求・DL・相談の「件数」まで。標榜する「検討深度」を証明するデータ（態度変容・事後成約率・LTV）が商品として整備されていない可能性。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483096" y="3346704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 What? 効果証明が出展料の上限を規定している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4005072"/>
            <a:ext cx="5385816" cy="2084832"/>
          </a:xfrm>
          <a:prstGeom prst="roundRect">
            <a:avLst>
              <a:gd name="adj" fmla="val 2632"/>
            </a:avLst>
          </a:prstGeom>
          <a:solidFill>
            <a:srgbClr val="FBF7F7"/>
          </a:solidFill>
          <a:ln w="9525">
            <a:solidFill>
              <a:srgbClr val="E3D8D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49808" y="4187952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70" y="4297314"/>
            <a:ext cx="201900" cy="2019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98448" y="4224528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集客の首都圏依存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77240" y="4718304"/>
            <a:ext cx="4928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来場の96.3%が東京・神奈川。集客方程式は「アプリユーザーが密集する首都圏」でしか実証されていない。妊婦主対象ゆえ移動許容距離も短い。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77240" y="5705856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 What? 全国展開の最大リスクはここに直結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254496" y="4005072"/>
            <a:ext cx="5385816" cy="2084832"/>
          </a:xfrm>
          <a:prstGeom prst="roundRect">
            <a:avLst>
              <a:gd name="adj" fmla="val 2632"/>
            </a:avLst>
          </a:prstGeom>
          <a:solidFill>
            <a:srgbClr val="FBF7F7"/>
          </a:solidFill>
          <a:ln w="9525">
            <a:solidFill>
              <a:srgbClr val="E3D8D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55664" y="4187952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026" y="4297314"/>
            <a:ext cx="201900" cy="2019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04304" y="4224528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運営の属人性【仮説】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483096" y="4718304"/>
            <a:ext cx="4928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営業窓口が個人名で運用され、会場選定・キャスティング・当日オペのノウハウが個人に蓄積か。非再出展見込み12.5%（2/16社）の理由把握と改善ループも要確認。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483096" y="5705856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 What? 型化なしの多都市展開は品質希釈を招く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ninaruフェスタ開催レポート2026（二子玉川、株式会社エバーセンス）。【仮説】表記は公開情報からの推定であり、当日の議論での検証を前提とする。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05｜成長仮説①：短期（傘：打ち手）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短期は「値付けの修正」だけで伸びる — セミナー充足率99%は供給不足＝プライシングエラーのシグナル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07008" y="166420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セミナーの増枠 × 価格改定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07008" y="1993392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179/180枠が埋まる状態は明確な供給不足。講座数・枠数を拡大し、協賛単価を段階的に引き上げる。個別相談率38〜44%という実績が値上げの根拠になる。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07008" y="272491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出展メニューの階層化（成果連動）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207008" y="3054096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目標を大幅超過する高関与商材（生協・保険・不動産）には、固定出展料に加えリード単価型の成果連動メニューを追加し、ARPA（出展社あたり収益）を引き上げる。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803904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07008" y="3785616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意思決定の場に紐づく高単価枠の新設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07008" y="411480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冠スポンサー、半個室の個別相談ブースなど「夫婦がその場で決められる」価値に直接課金する上位枠を設計。バナー広告では買えない体験として差別化。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864608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864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07008" y="48463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首都圏内で2フォーマットの損益検証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07008" y="5175504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26年計画（水天宮2,000名／五反田5,000名）を「妊娠期特化（小）」と「ファミリー（大）」のフォーマット別P/L実験と位置付け、型化に必要な損益データを蓄積。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41080" y="1664208"/>
            <a:ext cx="2999232" cy="4114800"/>
          </a:xfrm>
          <a:prstGeom prst="roundRect">
            <a:avLst>
              <a:gd name="adj" fmla="val 1829"/>
            </a:avLst>
          </a:prstGeom>
          <a:solidFill>
            <a:srgbClr val="6D2E46"/>
          </a:solidFill>
          <a:ln/>
        </p:spPr>
      </p:sp>
      <p:sp>
        <p:nvSpPr>
          <p:cNvPr id="21" name="Text 19"/>
          <p:cNvSpPr/>
          <p:nvPr/>
        </p:nvSpPr>
        <p:spPr>
          <a:xfrm>
            <a:off x="8869680" y="187452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CD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ねらい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69680" y="2240280"/>
            <a:ext cx="254203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「濃さ」を守ったまま、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出展社あたり収益を上げる。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規模拡大はまだしない。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器を大きくする前に、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今の器の値付けを正す。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ninaruフェスタ開催レポート2026（二子玉川、株式会社エバーセンス）。【仮説】表記は公開情報からの推定であり、当日の議論での検証を前提とする。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06｜成長仮説②：中期（傘：打ち手）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中期は売り物の再定義 — 「ブース」から「妊娠期ファネルへの入場権」へ。本丸はアプリ×イベントのID連携【仮説】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4068" y="1828800"/>
            <a:ext cx="1956816" cy="914400"/>
          </a:xfrm>
          <a:prstGeom prst="roundRect">
            <a:avLst>
              <a:gd name="adj" fmla="val 6000"/>
            </a:avLst>
          </a:prstGeom>
          <a:solidFill>
            <a:srgbClr val="F6EF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4068" y="1828800"/>
            <a:ext cx="1956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アプリ登録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（妊娠判明）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82596" y="182880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0068" y="1828800"/>
            <a:ext cx="1956816" cy="914400"/>
          </a:xfrm>
          <a:prstGeom prst="roundRect">
            <a:avLst>
              <a:gd name="adj" fmla="val 6000"/>
            </a:avLst>
          </a:prstGeom>
          <a:solidFill>
            <a:srgbClr val="F6EF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0068" y="1828800"/>
            <a:ext cx="1956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事前登録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来場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68596" y="182880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16068" y="1828800"/>
            <a:ext cx="1956816" cy="914400"/>
          </a:xfrm>
          <a:prstGeom prst="roundRect">
            <a:avLst>
              <a:gd name="adj" fmla="val 6000"/>
            </a:avLst>
          </a:prstGeom>
          <a:solidFill>
            <a:srgbClr val="F6EF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16068" y="1828800"/>
            <a:ext cx="1956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ブース／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セミナー接触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54596" y="182880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2068" y="1828800"/>
            <a:ext cx="1956816" cy="914400"/>
          </a:xfrm>
          <a:prstGeom prst="roundRect">
            <a:avLst>
              <a:gd name="adj" fmla="val 6000"/>
            </a:avLst>
          </a:prstGeom>
          <a:solidFill>
            <a:srgbClr val="F6EF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2068" y="1828800"/>
            <a:ext cx="1956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事後ナーチャ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リング配信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40596" y="182880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88068" y="1828800"/>
            <a:ext cx="1956816" cy="914400"/>
          </a:xfrm>
          <a:prstGeom prst="roundRect">
            <a:avLst>
              <a:gd name="adj" fmla="val 6000"/>
            </a:avLst>
          </a:prstGeom>
          <a:solidFill>
            <a:srgbClr val="6D2E46"/>
          </a:solidFill>
          <a:ln/>
        </p:spPr>
      </p:sp>
      <p:sp>
        <p:nvSpPr>
          <p:cNvPr id="17" name="Text 15"/>
          <p:cNvSpPr/>
          <p:nvPr/>
        </p:nvSpPr>
        <p:spPr>
          <a:xfrm>
            <a:off x="9688068" y="1828800"/>
            <a:ext cx="1956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成約・LTV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8803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イベントを「単発の接点」から、妊娠判明〜産後までを一気通貫で計測・介入できるファネルの中核装置に変える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5385816" cy="1417320"/>
          </a:xfrm>
          <a:prstGeom prst="roundRect">
            <a:avLst>
              <a:gd name="adj" fmla="val 3871"/>
            </a:avLst>
          </a:prstGeom>
          <a:solidFill>
            <a:srgbClr val="FBF7F7"/>
          </a:solidFill>
          <a:ln w="9525">
            <a:solidFill>
              <a:srgbClr val="E3D8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529584"/>
            <a:ext cx="4928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Before：ブースを売る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" y="3840480"/>
            <a:ext cx="4928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単発の出展料収益。成果報告は当日の件数まで。出展判断は担当者の実感に依存し、単価に上限。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54496" y="3383280"/>
            <a:ext cx="5385816" cy="1417320"/>
          </a:xfrm>
          <a:prstGeom prst="roundRect">
            <a:avLst>
              <a:gd name="adj" fmla="val 3871"/>
            </a:avLst>
          </a:prstGeom>
          <a:solidFill>
            <a:srgbClr val="F6EF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83096" y="3529584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After：ファネルへの入場権を売る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83096" y="3840480"/>
            <a:ext cx="4608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年間契約（再出展意向87.5%を転換）。事後フォロー配信と効果測定レポートを標準装備し、CPA・成約率という「稟議が通る言葉」で深さを証明。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07492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6D2E46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07492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7CD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中核KPIの置き換え　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イベント単体の売上ではなく、①出展社の年間継続率　②リードあたり単価　③アプリ→来場転換率　を追う。3つが揃えば、フェスタはメディア事業全体の単価を引き上げるエンジンになる。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ninaruフェスタ開催レポート2026（二子玉川、株式会社エバーセンス）。【仮説】表記は公開情報からの推定であり、当日の議論での検証を前提とする。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07｜全国4都市展開：型化の設計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型化の優先順位は「集客 ＞ 商品 ＞ 運営」— 当日オペより先に、集客方程式を持ち出せる形にする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46504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655064"/>
            <a:ext cx="1049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型化すべき3層と移植難易度（想定都市【仮説】：大阪・名古屋・福岡・札幌）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267712"/>
            <a:ext cx="11091672" cy="932688"/>
          </a:xfrm>
          <a:prstGeom prst="roundRect">
            <a:avLst>
              <a:gd name="adj" fmla="val 5882"/>
            </a:avLst>
          </a:prstGeom>
          <a:solidFill>
            <a:srgbClr val="6D2E46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377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CD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最重要・最難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77240" y="263347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集客の型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377440" y="2359152"/>
            <a:ext cx="8988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アプリ内告知 → LP → 事前登録 → 来場の転換率を、都市別アプリユーザー密度から予測するモデル。首都圏96.3%の実績しかない現状、ここが崩れると全てが崩れる。産院・自治体・母子手帳交付窓口との提携による補完集客も型に含める。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3346704"/>
            <a:ext cx="11091672" cy="932688"/>
          </a:xfrm>
          <a:prstGeom prst="roundRect">
            <a:avLst>
              <a:gd name="adj" fmla="val 5882"/>
            </a:avLst>
          </a:prstGeom>
          <a:solidFill>
            <a:srgbClr val="FBF7F7"/>
          </a:solidFill>
          <a:ln w="9525">
            <a:solidFill>
              <a:srgbClr val="E3D8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3456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移植容易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77240" y="3712464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商品の型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377440" y="3438144"/>
            <a:ext cx="8988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出展メニュー・セミナー構成・スタンプラリー等の回遊設計は二子玉川で実証済み。ナショナルクライアントの年間契約に「複数都市セット」を組み込めば、出展社確保ごと移植できる。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4425696"/>
            <a:ext cx="11091672" cy="932688"/>
          </a:xfrm>
          <a:prstGeom prst="roundRect">
            <a:avLst>
              <a:gd name="adj" fmla="val 5882"/>
            </a:avLst>
          </a:prstGeom>
          <a:solidFill>
            <a:srgbClr val="FBF7F7"/>
          </a:solidFill>
          <a:ln w="9525">
            <a:solidFill>
              <a:srgbClr val="E3D8D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45354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SOP化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77240" y="479145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運営の型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377440" y="4517136"/>
            <a:ext cx="8988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会場要件（駅近・ベビーカー動線・授乳室・440㎡級）、施工・当日オペ、妊婦・乳児対応の安全管理を標準手順書化。外部パートナー活用時の品質管理基準もここで定義。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5596128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715000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143000" y="5532120"/>
            <a:ext cx="10497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展開順序の仮説　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都市一斉展開はしない。アプリユーザー密度が最大と推定される大阪圏で首都圏の型を検証し、崩れた前提（移動距離・地域商材・単価）を修正してから残り都市へ。判断はKPIのトリガー条件（事前登録数・出展社数の下限）で機械的に行う。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ninaruフェスタ開催レポート2026（二子玉川、株式会社エバーセンス）。【仮説】表記は公開情報からの推定であり、当日の議論での検証を前提とする。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08｜全国展開：懸念・課題と打ち手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5つの懸念のうち、事業を止め得るのは「集客再現性」と「地域営業」の2つ — 資源はここに集中投下する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777240"/>
                <a:gridCol w="4114800"/>
                <a:gridCol w="405079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懸念・課題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致命度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打ち手【仮説】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D2E4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　集客再現性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D2E4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●●●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地方はアプリユーザー密度が低く、妊婦の移動許容距離も短い。1,000世帯級の集客が再現できない恐れ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都市別の事前登録・転換率シミュレーション。産院・自治体・母子手帳窓口と提携し補完集客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F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D2E4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　地域出展社の開拓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D2E4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●●●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成果を牽引した生協・不動産等の「地域商材」は都市ごとに新規営業が必要。営業リソースが律速に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ナショナル年間契約で採算下限を固定し、地域枠は現地代理店・共催パートナーで開拓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F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　品質の希釈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267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●●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満足度100%は少数開催・直営ゆえの可能性。委託・同時開催で「濃さ」が薄まるリスク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妊娠期比率・同伴率・出展社満足度を開催可否の基準化。下回る開催はやらない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　損益構造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267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●●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会場・施工・出張人件費が都市ごとに固定発生。地方は出展単価の下押し圧力も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都市別P/Lの事前設計。会場・施工の全国パートナー一括契約でコスト平準化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　競合との正面衝突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267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●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全国型ママイベント（リトル・ママフェスタ等）が各都市で開催実績を持つ【仮説】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「規模」で戦わず妊娠期特化・検討深度のポジションを堅持。競合が取れない高関与商材に集中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全国展開は「面を取る拡大」ではなく「首都圏で磨いた高密度フォーマットの移植」。移植の成否は当日運営ではなく、開催前（集客）と開催後（効果測定）の型が決める。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ninaruフェスタ開催レポート2026（二子玉川、株式会社エバーセンス）。【仮説】表記は公開情報からの推定であり、当日の議論での検証を前提とする。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BFC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本日、皆さまと検証したい5つの論点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658368"/>
          </a:xfrm>
          <a:prstGeom prst="roundRect">
            <a:avLst>
              <a:gd name="adj" fmla="val 6944"/>
            </a:avLst>
          </a:prstGeom>
          <a:solidFill>
            <a:srgbClr val="7D3E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BFC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783080"/>
            <a:ext cx="10085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CD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位置付け　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フェスタは「メディアの最上位商品」か「独立イベント事業」か — 社内での現在の定義と、経営としての期待値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69464"/>
            <a:ext cx="11091672" cy="658368"/>
          </a:xfrm>
          <a:prstGeom prst="roundRect">
            <a:avLst>
              <a:gd name="adj" fmla="val 6944"/>
            </a:avLst>
          </a:prstGeom>
          <a:solidFill>
            <a:srgbClr val="7D3E5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6946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BFC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2569464"/>
            <a:ext cx="10085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CD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収益構造　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出展料・協賛の単価水準と1開催あたりの粗利 — 「単体黒字より単価・継続率」という仮説の当否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55848"/>
            <a:ext cx="11091672" cy="658368"/>
          </a:xfrm>
          <a:prstGeom prst="roundRect">
            <a:avLst>
              <a:gd name="adj" fmla="val 6944"/>
            </a:avLst>
          </a:prstGeom>
          <a:solidFill>
            <a:srgbClr val="7D3E5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5584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BFC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3355848"/>
            <a:ext cx="10085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CD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データ連携　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アプリ×イベントのID連携・事後フォローの現状 — ファネル商品化までの距離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42232"/>
            <a:ext cx="11091672" cy="658368"/>
          </a:xfrm>
          <a:prstGeom prst="roundRect">
            <a:avLst>
              <a:gd name="adj" fmla="val 6944"/>
            </a:avLst>
          </a:prstGeom>
          <a:solidFill>
            <a:srgbClr val="7D3E5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14223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BFC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4142232"/>
            <a:ext cx="10085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CD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展開トリガー　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地方1都市目に踏み出す条件 — どのKPI（事前登録数・出展社数）が揃えばGoか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28616"/>
            <a:ext cx="11091672" cy="658368"/>
          </a:xfrm>
          <a:prstGeom prst="roundRect">
            <a:avLst>
              <a:gd name="adj" fmla="val 6944"/>
            </a:avLst>
          </a:prstGeom>
          <a:solidFill>
            <a:srgbClr val="7D3E5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92861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BFC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4928616"/>
            <a:ext cx="10085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CD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改善ループ　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再出展を見送る12.5%（2/16社）の理由 — 品質管理の実態と型化への示唆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D9D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仮説はすべて、反証されれば打ち手が変わる形で置きました。ご指摘を歓迎します。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2026-07-17T15:34:26Z</dcterms:created>
  <dcterms:modified xsi:type="dcterms:W3CDTF">2026-07-17T15:34:26Z</dcterms:modified>
</cp:coreProperties>
</file>